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この講演の的は師長です。経営層には「師長が楽になる」と伝える。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ここで会場を見渡す。答えを待つ。だいたい師長という答えが返る。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数字だけ見せる。マネージャー0人で驚いてもらう。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15人で15,000人。比率は1対1,000。ここで空気が変わる。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引用をそのまま読む。ゆっくり。ここが今日の中心。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仕組みの話ではなく、人間観の話だと転換する。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CTIの枠組み。1つ目だけ強調する。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欠けていない、を強調。だから教えるのではなく聞く。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3つは別々ではない。同じことを言っている。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ここは警告。仕組みだけ真似ると必ず失敗する。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経営層を安心させる。ここは触らないと明言する。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訪問看護が◎。ここが最も近い。病棟はシフトから。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ここが提案の核。予算も許可も要らない。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明日の朝礼から使える。ここをメモしてもらう。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自分がレベル1にいると気づくだけで変わる。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正直に伝える。ここで信頼が生まれる。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小さく試す。12名以下がポイント。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正直に言う。ここを飛ばすと信用されない。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ゆっくり。間を置く。ここで終わる。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未確認のものは、その旨を言う。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1371600"/>
            <a:ext cx="256032" cy="25603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828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ビュートゾルフの自主経営を、日本の医療現場へ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2860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決めない上司が、</a:t>
            </a:r>
            <a:endParaRPr lang="en-US" sz="4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いちばん強い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480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コーアクティブの人間観 × ティール組織の要諦 から検証する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120640"/>
            <a:ext cx="2926080" cy="0"/>
          </a:xfrm>
          <a:prstGeom prst="line">
            <a:avLst/>
          </a:prstGeom>
          <a:noFill/>
          <a:ln w="12700">
            <a:solidFill>
              <a:srgbClr val="4A657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ともき医療ワークス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463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はじめに、1つだけ質問です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19456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あなたの病院で、</a:t>
            </a:r>
            <a:endParaRPr lang="en-US" sz="3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いま一番疲れているのは</a:t>
            </a:r>
            <a:endParaRPr lang="en-US" sz="3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誰ですか。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029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今日は、その方を楽にする話をします。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オランダに、こういう組織があります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15,000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2F4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2900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1,000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自主経営チーム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F2F4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17920" y="1920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名以下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32918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1チームの人数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006840" y="1691640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1F29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06840" y="1920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</a:t>
            </a:r>
            <a:endParaRPr lang="en-US" sz="5200" dirty="0"/>
          </a:p>
        </p:txBody>
      </p:sp>
      <p:sp>
        <p:nvSpPr>
          <p:cNvPr id="19" name="Text 16"/>
          <p:cNvSpPr txBox="1"/>
          <p:nvPr/>
        </p:nvSpPr>
        <p:spPr>
          <a:xfrm>
            <a:off x="9006840" y="28346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006840" y="32918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管理職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297680"/>
            <a:ext cx="10881360" cy="1600200"/>
          </a:xfrm>
          <a:prstGeom prst="roundRect">
            <a:avLst>
              <a:gd name="adj" fmla="val 3429"/>
            </a:avLst>
          </a:prstGeom>
          <a:solidFill>
            <a:srgbClr val="E8F2E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60120" y="4434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チームが自分で決めていること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4892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ケアプランの作成 ・ 採用と教育 ・ シフト調整 ・ 予算管理 ・ 開業医との連携 ・ 事務所の賃借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2006年設立。人数は資料により幅があります(看護師1万〜1万5千人)。要原典確認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では、誰が支えているのでしょうか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15 人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1人あたり、およそ1,000人を見ています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73736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F2F4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2084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 40 人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バックオフィス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事務処理を担う。指示は出しません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931920"/>
            <a:ext cx="10881360" cy="1920240"/>
          </a:xfrm>
          <a:prstGeom prst="roundRect">
            <a:avLst>
              <a:gd name="adj" fmla="val 2857"/>
            </a:avLst>
          </a:prstGeom>
          <a:solidFill>
            <a:srgbClr val="1F293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なぜ、15人で回るのでしょうか。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4754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コーチが「決めない」からです。決めていたら、そこで渋滞します。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コーチとは、こういう存在です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881360" cy="2377440"/>
          </a:xfrm>
          <a:prstGeom prst="roundRect">
            <a:avLst>
              <a:gd name="adj" fmla="val 2308"/>
            </a:avLst>
          </a:prstGeom>
          <a:solidFill>
            <a:srgbClr val="E8F2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97280" y="1920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コーチはチームの上司ではありません。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2468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チームに対して何かを命令したり、意思決定したりする権限は、一切持っていません。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063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役割は、チームが問題に直面したときに相談に乗り、話し合いが円滑に進むよう手助けすることです。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343400"/>
            <a:ext cx="5212080" cy="1508760"/>
          </a:xfrm>
          <a:prstGeom prst="roundRect">
            <a:avLst>
              <a:gd name="adj" fmla="val 3636"/>
            </a:avLst>
          </a:prstGeom>
          <a:solidFill>
            <a:srgbClr val="F2F4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持っていないもの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937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命令する権限 / 決定する権限 / 承認する権限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4343400"/>
            <a:ext cx="5212080" cy="1508760"/>
          </a:xfrm>
          <a:prstGeom prst="roundRect">
            <a:avLst>
              <a:gd name="adj" fmla="val 3636"/>
            </a:avLst>
          </a:prstGeom>
          <a:solidFill>
            <a:srgbClr val="E8F2E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3796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やっていること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4937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相談に乗る / 話し合いを助ける / 問いかける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出典:嘉村賢州「オランダで急成長を遂げるティール組織、Buurtzorgの驚きの組織運営」ほか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280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なぜ、それで回るのか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2024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仕組みが違うのではありません。</a:t>
            </a:r>
            <a:endParaRPr lang="en-US" sz="3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人の見方が違うのです。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3931920"/>
            <a:ext cx="5212080" cy="1737360"/>
          </a:xfrm>
          <a:prstGeom prst="roundRect">
            <a:avLst>
              <a:gd name="adj" fmla="val 3158"/>
            </a:avLst>
          </a:prstGeom>
          <a:solidFill>
            <a:srgbClr val="2C3E4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これまでの前提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526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現場には、足りないものがある。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だから上が補う。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309360" y="3931920"/>
            <a:ext cx="5212080" cy="1737360"/>
          </a:xfrm>
          <a:prstGeom prst="roundRect">
            <a:avLst>
              <a:gd name="adj" fmla="val 3158"/>
            </a:avLst>
          </a:prstGeom>
          <a:solidFill>
            <a:srgbClr val="2C3E4C"/>
          </a:solidFill>
          <a:ln w="25400">
            <a:solidFill>
              <a:srgbClr val="0E7C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この組織の前提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4526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現場には、欠けているものはない。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だから上は聞くだけでいい。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この人間観には、名前がついています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CTI コーアクティブ・コーチング「4つの礎」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8F2EF"/>
          </a:solidFill>
          <a:ln/>
        </p:spPr>
      </p:sp>
      <p:sp>
        <p:nvSpPr>
          <p:cNvPr id="7" name="Shape 4"/>
          <p:cNvSpPr/>
          <p:nvPr/>
        </p:nvSpPr>
        <p:spPr>
          <a:xfrm>
            <a:off x="932688" y="2057400"/>
            <a:ext cx="457200" cy="45720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326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920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人はもともと創造力と才知にあふれ、欠けるところのない存在である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33172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英語の頭文字でNCRW。最も基本の考え方です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/>
        </p:spPr>
      </p:sp>
      <p:sp>
        <p:nvSpPr>
          <p:cNvPr id="12" name="Shape 9"/>
          <p:cNvSpPr/>
          <p:nvPr/>
        </p:nvSpPr>
        <p:spPr>
          <a:xfrm>
            <a:off x="932688" y="3108960"/>
            <a:ext cx="457200" cy="457200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32688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29718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その人すべてに焦点を当てる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3832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役割ではなく、人として向き合います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/>
        </p:spPr>
      </p:sp>
      <p:sp>
        <p:nvSpPr>
          <p:cNvPr id="17" name="Shape 14"/>
          <p:cNvSpPr/>
          <p:nvPr/>
        </p:nvSpPr>
        <p:spPr>
          <a:xfrm>
            <a:off x="932688" y="4160520"/>
            <a:ext cx="457200" cy="457200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3268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40233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今この瞬間から創る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00200" y="443484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計画通りではなく、いま起きていることを扱います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2F4F5"/>
          </a:solidFill>
          <a:ln/>
        </p:spPr>
      </p:sp>
      <p:sp>
        <p:nvSpPr>
          <p:cNvPr id="22" name="Shape 19"/>
          <p:cNvSpPr/>
          <p:nvPr/>
        </p:nvSpPr>
        <p:spPr>
          <a:xfrm>
            <a:off x="932688" y="5212080"/>
            <a:ext cx="457200" cy="457200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2688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00200" y="5074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本質的な変化を呼び起こす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600200" y="548640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対処ではなく、根本の変化を起こします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出典:CTI JAPAN、『コーチング・バイブル』(第4版)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礎 1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459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欠けるところのない存在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514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Naturally Creative, Resourceful and Whole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338328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2C3E4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33832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欠けている、と見るなら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33832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教える。指示する。確認する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40080" y="457200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2C3E4C"/>
          </a:solidFill>
          <a:ln w="25400">
            <a:solidFill>
              <a:srgbClr val="0E7C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05840" y="45720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欠けていない、と見るなら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45720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聞く。任せる。待つ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3つは、同じことを言っています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3474720" cy="4206240"/>
          </a:xfrm>
          <a:prstGeom prst="roundRect">
            <a:avLst>
              <a:gd name="adj" fmla="val 1579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コーアクティブ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2359152"/>
            <a:ext cx="2926080" cy="0"/>
          </a:xfrm>
          <a:prstGeom prst="line">
            <a:avLst/>
          </a:prstGeom>
          <a:noFill/>
          <a:ln w="19050">
            <a:solidFill>
              <a:srgbClr val="E6EA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" y="2642616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2514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人は欠けるところのない存在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447288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43000" y="33192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その人すべてに焦点を当てる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251960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43000" y="412394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答えは相手の中にある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5056632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492861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コーチは答えを与えない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343400" y="1645920"/>
            <a:ext cx="3474720" cy="4206240"/>
          </a:xfrm>
          <a:prstGeom prst="roundRect">
            <a:avLst>
              <a:gd name="adj" fmla="val 1579"/>
            </a:avLst>
          </a:prstGeom>
          <a:solidFill>
            <a:srgbClr val="F2F4F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ティール組織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617720" y="2359152"/>
            <a:ext cx="2926080" cy="0"/>
          </a:xfrm>
          <a:prstGeom prst="line">
            <a:avLst/>
          </a:prstGeom>
          <a:noFill/>
          <a:ln w="19050">
            <a:solidFill>
              <a:srgbClr val="E6EA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17720" y="2642616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2514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人は信頼できる存在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17720" y="3447288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846320" y="33192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ホールネス(全体性)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17720" y="4251960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846320" y="412394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セルフマネジメント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617720" y="5056632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846320" y="492861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管理職を置かない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046720" y="1645920"/>
            <a:ext cx="3474720" cy="4206240"/>
          </a:xfrm>
          <a:prstGeom prst="roundRect">
            <a:avLst>
              <a:gd name="adj" fmla="val 1579"/>
            </a:avLst>
          </a:prstGeom>
          <a:solidFill>
            <a:srgbClr val="E8F2EF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32104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ビュートゾルフ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8321040" y="2359152"/>
            <a:ext cx="2926080" cy="0"/>
          </a:xfrm>
          <a:prstGeom prst="line">
            <a:avLst/>
          </a:prstGeom>
          <a:noFill/>
          <a:ln w="19050">
            <a:solidFill>
              <a:srgbClr val="0E7C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21040" y="2642616"/>
            <a:ext cx="100584" cy="10058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549640" y="2514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看護師は自分で決められる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321040" y="3447288"/>
            <a:ext cx="100584" cy="10058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549640" y="33192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職種の枠を越えて担う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321040" y="4251960"/>
            <a:ext cx="100584" cy="10058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549640" y="412394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チームが全て決める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8321040" y="5056632"/>
            <a:ext cx="100584" cy="10058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8549640" y="492861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コーチに決定権はない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ビュートゾルフは、この人間観を組織の仕組みに実装したものです。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280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先に、失敗の理由をお伝えします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202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人の見方を変えずに、</a:t>
            </a:r>
            <a:endParaRPr lang="en-US" sz="3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仕組みだけ真似ると、必ず失敗します。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3931920"/>
            <a:ext cx="10881360" cy="1737360"/>
          </a:xfrm>
          <a:prstGeom prst="roundRect">
            <a:avLst>
              <a:gd name="adj" fmla="val 3158"/>
            </a:avLst>
          </a:prstGeom>
          <a:solidFill>
            <a:srgbClr val="2C3E4C"/>
          </a:solidFill>
          <a:ln w="19050">
            <a:solidFill>
              <a:srgbClr val="C127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「チームで決めてください」と言いながら、上司が答えを持っていれば、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4709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現場は、その答えを当てにいきます。自主経営は成立しません。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医療には、動かせない層があります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医療法 第15条第1項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22199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管理者は、勤務する医師・薬剤師その他の従業者を監督し、病院の管理運営につき必要な注意をしなければならない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2F4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医療法 第6条の12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68503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管理者は、医療安全確保の指針の策定、従業者への研修その他、医療の安全を確保するための措置を講じなければならない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75488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1F29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51560" y="48920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医療安全・感染対策・施設基準・最終的な診療責任・有事の指揮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5156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この層は、院長の責任のまま動かしません。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検証:どこまで導入できるか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536192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153619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訪問看護ステーション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74920" y="153619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153619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ビュートゾルフと業態が同じ。規模も近い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0312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病棟のシフト・勤務調整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074920" y="2103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21031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法的制約がなく、離職防止に直結する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670048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F2F4F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267004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病棟の業務改善・手順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67004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5897880" y="267004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現場が最もよく知っている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23697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チーム内の教育・採用一次面接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074920" y="323697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5897880" y="323697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安全研修と最終決定は法人側に残す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0080" y="3803904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F2F4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380390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日常のケア方針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074920" y="380390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○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897880" y="380390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標準治療の枠内であれば可能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437083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外来の運営・予算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074920" y="437083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5897880" y="437083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医師の診療体制と一体。小額に限る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937760"/>
            <a:ext cx="10881360" cy="512064"/>
          </a:xfrm>
          <a:prstGeom prst="roundRect">
            <a:avLst>
              <a:gd name="adj" fmla="val 10714"/>
            </a:avLst>
          </a:prstGeom>
          <a:solidFill>
            <a:srgbClr val="F2F4F5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68680" y="493776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手術室・救急の指揮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074920" y="493776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5897880" y="493776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有事の指揮命令系統は崩せない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68680" y="550468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医療安全・感染対策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074920" y="550468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5897880" y="550468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医療法上、管理者の責任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全部やる必要はありません。◎の3つだけで十分に始まります。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最小の一歩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3736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師長を「コーチ」に</a:t>
            </a:r>
            <a:endParaRPr lang="en-US" sz="3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変えてみませんか。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384048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2C3E4C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4069080"/>
            <a:ext cx="411480" cy="41148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許可も予算も要りません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074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話し方を変えるだけです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384048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2C3E4C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4069080"/>
            <a:ext cx="411480" cy="41148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177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師長が一番疲れています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5074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板挟みの層です。ここが楽になります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3840480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2C3E4C"/>
          </a:solidFill>
          <a:ln/>
        </p:spPr>
      </p:sp>
      <p:sp>
        <p:nvSpPr>
          <p:cNvPr id="16" name="Shape 13"/>
          <p:cNvSpPr/>
          <p:nvPr/>
        </p:nvSpPr>
        <p:spPr>
          <a:xfrm>
            <a:off x="8321040" y="4069080"/>
            <a:ext cx="411480" cy="411480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210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4617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失敗しても損失がありません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5074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AEBA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元に戻すこともできます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明日から変えられる、5つの言い方</a:t>
            </a:r>
            <a:endParaRPr lang="en-US" sz="29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1481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いままで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1481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F2F4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874520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この手順でやってください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8F2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187452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どうするのが一番いいと思いますか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2724912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F2F4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2724912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私が確認してから進めて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63640" y="2724912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8F2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92240" y="2724912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チームで決めて、決めたら教えてください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3575304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F2F4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68680" y="3575304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それは無理だと思う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63640" y="3575304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8F2E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92240" y="357530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やるとしたら、何が必要ですか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4425696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F2F4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68680" y="4425696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なぜできなかったのですか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63640" y="4425696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8F2E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92240" y="4425696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次はどうすればうまくいきそうですか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40080" y="5276088"/>
            <a:ext cx="5349240" cy="713232"/>
          </a:xfrm>
          <a:prstGeom prst="roundRect">
            <a:avLst>
              <a:gd name="adj" fmla="val 7692"/>
            </a:avLst>
          </a:prstGeom>
          <a:solidFill>
            <a:srgbClr val="F2F4F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68680" y="5276088"/>
            <a:ext cx="4937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(沈黙を埋める)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63640" y="5276088"/>
            <a:ext cx="5257800" cy="713232"/>
          </a:xfrm>
          <a:prstGeom prst="roundRect">
            <a:avLst>
              <a:gd name="adj" fmla="val 7692"/>
            </a:avLst>
          </a:prstGeom>
          <a:solidFill>
            <a:srgbClr val="E8F2E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92240" y="527608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(3秒、待つ)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これだけです。制度も予算も、いま変える必要はありません。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会議中、意識はどこを向いていますか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9019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 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278892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内的傾聴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331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意識は自分に向いています。「次に何を言おうか」と考えています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F2F4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32278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 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78892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集中的傾聴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36576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意識は相手に向いています。相手の言葉に集中しています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4389120"/>
            <a:ext cx="10881360" cy="1143000"/>
          </a:xfrm>
          <a:prstGeom prst="roundRect">
            <a:avLst>
              <a:gd name="adj" fmla="val 4800"/>
            </a:avLst>
          </a:prstGeom>
          <a:solidFill>
            <a:srgbClr val="E8F2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45537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 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788920" y="4526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全体的傾聴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49834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意識は場全体に向いています。言われていないことにも気づきます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レベル1にいると気づくだけで、聞き方が変わります。上げようとしなくて構いません。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1996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出典:CTI コーアクティブ・コーチング・モデル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やってはいけないこと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07008" y="1737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人の見方を変えずに、仕組みだけ真似る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542032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245059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「自由にやっていい」と言いながら、上司が答えを持っている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3255264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207008" y="316382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医療安全まで現場に投げる(法令違反です)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3968496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4008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07008" y="387705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コーチ役が結論を言ってしまう(その瞬間に終わります)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4681728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207008" y="45902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うまくいかないと権限を戻す(信頼は二度と戻りません)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07008" y="5303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全部署で一斉に始める(比較対象がなくなります)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一度失った信頼は、数字では取り戻せません。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90日で、1つの部署だけ試す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2F4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事前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数字を測る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691640" y="3200400"/>
            <a:ext cx="457200" cy="0"/>
          </a:xfrm>
          <a:prstGeom prst="line">
            <a:avLst/>
          </a:prstGeom>
          <a:noFill/>
          <a:ln w="25400">
            <a:solidFill>
              <a:srgbClr val="E6EA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離職率・欠勤率・残業時間・超過勤務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17373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2F4F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1188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1〜30日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言い方を変える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480560" y="3200400"/>
            <a:ext cx="457200" cy="0"/>
          </a:xfrm>
          <a:prstGeom prst="line">
            <a:avLst/>
          </a:prstGeom>
          <a:noFill/>
          <a:ln w="25400">
            <a:solidFill>
              <a:srgbClr val="E6EA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1188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師長が5つの言い換えだけを実行する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17920" y="17373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2F4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31〜60日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シフトを渡す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269480" y="3200400"/>
            <a:ext cx="457200" cy="0"/>
          </a:xfrm>
          <a:prstGeom prst="line">
            <a:avLst/>
          </a:prstGeom>
          <a:noFill/>
          <a:ln w="25400">
            <a:solidFill>
              <a:srgbClr val="E6EA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自己編成に移す。師長は承認しない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006840" y="17373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E8F2E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89720" y="1920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61〜90日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189720" y="2423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改善を渡す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058400" y="3200400"/>
            <a:ext cx="457200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89720" y="33832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コーチ役として相談だけ受ける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40080" y="49377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F293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51560" y="49377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チームは12名以下にしてください。全員が発言できる規模だからです。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正直に申し上げます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349240" cy="3840480"/>
          </a:xfrm>
          <a:prstGeom prst="roundRect">
            <a:avLst>
              <a:gd name="adj" fmla="val 1429"/>
            </a:avLst>
          </a:prstGeom>
          <a:solidFill>
            <a:srgbClr val="E8F2E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期待できること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60120" y="2660904"/>
            <a:ext cx="118872" cy="11887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207008" y="2514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師長の負担が減ります(承認業務がなくなります)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0120" y="3621024"/>
            <a:ext cx="118872" cy="11887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07008" y="34747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現場の当事者意識が上がります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4581144"/>
            <a:ext cx="118872" cy="118872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207008" y="4434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離職の理由が人間関係なら、効果が見込めます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55080" y="1691640"/>
            <a:ext cx="5166360" cy="3840480"/>
          </a:xfrm>
          <a:prstGeom prst="roundRect">
            <a:avLst>
              <a:gd name="adj" fmla="val 1429"/>
            </a:avLst>
          </a:prstGeom>
          <a:solidFill>
            <a:srgbClr val="F2F4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7512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7A8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期待できないこと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675120" y="2642616"/>
            <a:ext cx="118872" cy="118872"/>
          </a:xfrm>
          <a:prstGeom prst="ellipse">
            <a:avLst/>
          </a:prstGeom>
          <a:solidFill>
            <a:srgbClr val="6B7A8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22008" y="2514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人手不足そのものは解決しません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3392424"/>
            <a:ext cx="118872" cy="118872"/>
          </a:xfrm>
          <a:prstGeom prst="ellipse">
            <a:avLst/>
          </a:prstGeom>
          <a:solidFill>
            <a:srgbClr val="6B7A8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922008" y="326440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最初の1〜2か月は、むしろ混乱します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675120" y="4142232"/>
            <a:ext cx="118872" cy="118872"/>
          </a:xfrm>
          <a:prstGeom prst="ellipse">
            <a:avLst/>
          </a:prstGeom>
          <a:solidFill>
            <a:srgbClr val="6B7A8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922008" y="40142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指示を求める人もいます。全員が歓迎はしません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675120" y="4892040"/>
            <a:ext cx="118872" cy="118872"/>
          </a:xfrm>
          <a:prstGeom prst="ellipse">
            <a:avLst/>
          </a:prstGeom>
          <a:solidFill>
            <a:srgbClr val="6B7A8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922008" y="476402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数字の改善は、早くても3か月後です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27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最初の3か月は指標が悪化します。そこで止めると、全て無駄になります。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1280160"/>
            <a:ext cx="201168" cy="201168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82880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全部やらなくて構いません。</a:t>
            </a:r>
            <a:endParaRPr lang="en-US" sz="3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1つでいいのです。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3931920"/>
            <a:ext cx="2926080" cy="0"/>
          </a:xfrm>
          <a:prstGeom prst="line">
            <a:avLst/>
          </a:prstGeom>
          <a:noFill/>
          <a:ln w="25400">
            <a:solidFill>
              <a:srgbClr val="0E7C6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16052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明日の朝、「どうするのが一番いいと思いますか」と</a:t>
            </a:r>
            <a:endParaRPr lang="en-US" sz="19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一度だけ聞いてみてください。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394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それが、自主経営のはじまりです。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0E7C6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950976" y="384048"/>
            <a:ext cx="10570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</a:t>
            </a:r>
            <a:endParaRPr lang="en-US" sz="2900" dirty="0"/>
          </a:p>
        </p:txBody>
      </p:sp>
      <p:sp>
        <p:nvSpPr>
          <p:cNvPr id="5" name="Shape 2"/>
          <p:cNvSpPr/>
          <p:nvPr/>
        </p:nvSpPr>
        <p:spPr>
          <a:xfrm>
            <a:off x="640080" y="1883664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96112" y="17373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嘉村賢州「オランダで急成長を遂げるティール組織、Buurtzorgの驚きの組織運営」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2542032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96112" y="23957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r3s「ビュートゾルフ:セルフマネジメントチームにおける7つのロール」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96112" y="305409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Empower Path「組織がビュートゾルフの高いパフォーマンスから学べること」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858768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96112" y="37124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CTI JAPAN「コーチングを学ぶ」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517136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96112" y="43708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ウエイクアップ「『ウエイクアップの物語』第2号 NCRW」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17920" y="1883664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73952" y="17373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『コーチング・バイブル』(第4版) キムジーハウスほか著、CTIジャパン訳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0" y="2542032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73952" y="23957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『ティール組織』フレデリック・ラルー 著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17920" y="3200400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73952" y="305409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『自主経営組織のはじめ方』フェルメール、ウェンティング 著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17920" y="3858768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73952" y="37124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東京都保健医療局「病院管理の手引」(医療法上の管理者の責務)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17920" y="4517136"/>
            <a:ext cx="100584" cy="100584"/>
          </a:xfrm>
          <a:prstGeom prst="ellipse">
            <a:avLst/>
          </a:prstGeom>
          <a:solidFill>
            <a:srgbClr val="4A657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73952" y="43708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F29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日本看護協会「医療機関等で求められる安全管理体制」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2F4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5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数値は二次情報です。人数は資料により幅があります(コーチ15〜50人、看護師1万〜1万5千人)。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決めない上司が、いちばん強い</dc:title>
  <dc:subject>PptxGenJS Presentation</dc:subject>
  <dc:creator>ともき医療ワークス</dc:creator>
  <cp:lastModifiedBy>ともき医療ワークス</cp:lastModifiedBy>
  <cp:revision>1</cp:revision>
  <dcterms:created xsi:type="dcterms:W3CDTF">2026-09-01T21:40:48Z</dcterms:created>
  <dcterms:modified xsi:type="dcterms:W3CDTF">2026-09-01T21:40:48Z</dcterms:modified>
</cp:coreProperties>
</file>