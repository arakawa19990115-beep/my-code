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3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高齢化率(%)</c:v>
                </c:pt>
              </c:strCache>
            </c:strRef>
          </c:tx>
          <c:spPr>
            <a:solidFill>
              <a:srgbClr val="4A65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933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657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7A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A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1272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愛知県(2020)</c:v>
                  </c:pt>
                  <c:pt idx="1">
                    <c:v>全国(2020)</c:v>
                  </c:pt>
                  <c:pt idx="2">
                    <c:v>全国(2025)</c:v>
                  </c:pt>
                  <c:pt idx="3">
                    <c:v>愛知県(2050)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25.4</c:v>
                </c:pt>
                <c:pt idx="1">
                  <c:v>28.7</c:v>
                </c:pt>
                <c:pt idx="2">
                  <c:v>29.6</c:v>
                </c:pt>
                <c:pt idx="3">
                  <c:v>34.5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F2933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12700" cap="flat">
              <a:solidFill>
                <a:srgbClr val="E6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8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人口</c:v>
                </c:pt>
              </c:strCache>
            </c:strRef>
          </c:tx>
          <c:spPr>
            <a:solidFill>
              <a:srgbClr val="4A65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名古屋</c:v>
                  </c:pt>
                  <c:pt idx="1">
                    <c:v>西三河南部</c:v>
                  </c:pt>
                  <c:pt idx="2">
                    <c:v>尾張北部</c:v>
                  </c:pt>
                  <c:pt idx="3">
                    <c:v>東三河南部</c:v>
                  </c:pt>
                  <c:pt idx="4">
                    <c:v>知多半島</c:v>
                  </c:pt>
                  <c:pt idx="5">
                    <c:v>尾張西部</c:v>
                  </c:pt>
                  <c:pt idx="6">
                    <c:v>西三河北部</c:v>
                  </c:pt>
                  <c:pt idx="7">
                    <c:v>尾張東部</c:v>
                  </c:pt>
                  <c:pt idx="8">
                    <c:v>海部</c:v>
                  </c:pt>
                  <c:pt idx="9">
                    <c:v>尾張中部</c:v>
                  </c:pt>
                  <c:pt idx="10">
                    <c:v>東三河北部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2164640</c:v>
                </c:pt>
                <c:pt idx="1">
                  <c:v>1048814</c:v>
                </c:pt>
                <c:pt idx="2">
                  <c:v>717447</c:v>
                </c:pt>
                <c:pt idx="3">
                  <c:v>690585</c:v>
                </c:pt>
                <c:pt idx="4">
                  <c:v>600615</c:v>
                </c:pt>
                <c:pt idx="5">
                  <c:v>513394</c:v>
                </c:pt>
                <c:pt idx="6">
                  <c:v>459814</c:v>
                </c:pt>
                <c:pt idx="7">
                  <c:v>439290</c:v>
                </c:pt>
                <c:pt idx="8">
                  <c:v>331199</c:v>
                </c:pt>
                <c:pt idx="9">
                  <c:v>156251</c:v>
                </c:pt>
                <c:pt idx="10">
                  <c:v>63695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6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8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従来型の看護組織</c:v>
                </c:pt>
              </c:strCache>
            </c:strRef>
          </c:tx>
          <c:spPr>
            <a:solidFill>
              <a:srgbClr val="6B7A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病気による欠勤率</c:v>
                  </c:pt>
                  <c:pt idx="1">
                    <c:v>離職率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ビュートゾルフ</c:v>
                </c:pt>
              </c:strCache>
            </c:strRef>
          </c:tx>
          <c:spPr>
            <a:solidFill>
              <a:srgbClr val="C127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病気による欠勤率</c:v>
                  </c:pt>
                  <c:pt idx="1">
                    <c:v>離職率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40</c:v>
                </c:pt>
                <c:pt idx="1">
                  <c:v>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12700" cap="flat">
              <a:solidFill>
                <a:srgbClr val="E6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8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933"/>
              </a:solidFill>
              <a:latin typeface="Meiryo"/>
              <a:cs typeface="Meiry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導入のねらい:3つの反転を予告する。ここでは説明しない。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説明しない。問いだけを投げる。「この3つの数字が何か、分かる方はいますか」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この講演の背骨。3つの反転は1本につながることを予告する。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まず常識を肯定する。ここで一度うなずいてもらう。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数字で裏づける。ここまでは肯定。次で反転する。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ここが第1の反転。恵まれていることは有利ではない、と言い切る。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締切は2028年度。ここが第1部の山。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病棟単位から病院単位へ。回復期→包括期は名称変更ではない。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同じ愛知でも取るべき席が違う。34倍の差。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共感から入る。経営者の本音を先に言う。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共通点は、主観と結論が先に来ていること。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主観を排除する4つの技術。医師は科学の訓練を受けた専門職。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第2部の山。医師が正当な理由を言ったら、データを直す。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必ず質から見せる。収支だけだと「金の話か」で終わる。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この循環を、管理型は止められない。指示を出す人も受ける人も限界。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先に安心させる。経営層は不安になるから、制約を先に置く。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階層をなくす話ではない。判断する場所を現場に近づける話。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オランダの在宅ケア組織。数値は二次情報なので断定しない。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「〜と報告されています」と言う。断定しない。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この講演で一番大事な一言。ゆっくり言う。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全部やろうとすると始まらない。小さく1つずつ。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ゆっくり、間を置いて言う。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数値の多くは二次情報。講演前に原典確認が必要。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質疑へ。想定質問は構成書の第9章。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1371600"/>
            <a:ext cx="256032" cy="256032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医療経営者向け講演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28600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2028年の締切と、</a:t>
            </a:r>
            <a:endParaRPr lang="en-US" sz="4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病院経営の3つの反転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3891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2026年度診療報酬改定 / 新たな地域医療構想 / 愛知県の人口動態から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5029200"/>
            <a:ext cx="2926080" cy="0"/>
          </a:xfrm>
          <a:prstGeom prst="line">
            <a:avLst/>
          </a:prstGeom>
          <a:noFill/>
          <a:ln w="12700">
            <a:solidFill>
              <a:srgbClr val="4A657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5212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ともき医療ワークス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7315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この3つの数字が、何か分かりますか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1031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2028</a:t>
            </a:r>
            <a:endParaRPr lang="en-US" sz="6000" dirty="0"/>
          </a:p>
        </p:txBody>
      </p:sp>
      <p:sp>
        <p:nvSpPr>
          <p:cNvPr id="5" name="Shape 2"/>
          <p:cNvSpPr/>
          <p:nvPr/>
        </p:nvSpPr>
        <p:spPr>
          <a:xfrm>
            <a:off x="2011680" y="3657600"/>
            <a:ext cx="548640" cy="0"/>
          </a:xfrm>
          <a:prstGeom prst="line">
            <a:avLst/>
          </a:prstGeom>
          <a:noFill/>
          <a:ln w="25400">
            <a:solidFill>
              <a:srgbClr val="4A657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3931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?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4343400" y="21031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224.4</a:t>
            </a:r>
            <a:endParaRPr lang="en-US" sz="6000" dirty="0"/>
          </a:p>
        </p:txBody>
      </p:sp>
      <p:sp>
        <p:nvSpPr>
          <p:cNvPr id="8" name="Shape 5"/>
          <p:cNvSpPr/>
          <p:nvPr/>
        </p:nvSpPr>
        <p:spPr>
          <a:xfrm>
            <a:off x="5715000" y="3657600"/>
            <a:ext cx="548640" cy="0"/>
          </a:xfrm>
          <a:prstGeom prst="line">
            <a:avLst/>
          </a:prstGeom>
          <a:noFill/>
          <a:ln w="25400">
            <a:solidFill>
              <a:srgbClr val="4A657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43400" y="3931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?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21031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61.2</a:t>
            </a:r>
            <a:endParaRPr lang="en-US" sz="6000" dirty="0"/>
          </a:p>
        </p:txBody>
      </p:sp>
      <p:sp>
        <p:nvSpPr>
          <p:cNvPr id="11" name="Shape 8"/>
          <p:cNvSpPr/>
          <p:nvPr/>
        </p:nvSpPr>
        <p:spPr>
          <a:xfrm>
            <a:off x="9418320" y="3657600"/>
            <a:ext cx="548640" cy="0"/>
          </a:xfrm>
          <a:prstGeom prst="line">
            <a:avLst/>
          </a:prstGeom>
          <a:noFill/>
          <a:ln w="25400">
            <a:solidFill>
              <a:srgbClr val="4A657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46720" y="3931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?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6692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答えは、この90分のなかにあります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50976" y="384048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今日、3つの常識をひっくり返します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10881360" cy="1225296"/>
          </a:xfrm>
          <a:prstGeom prst="roundRect">
            <a:avLst>
              <a:gd name="adj" fmla="val 4478"/>
            </a:avLst>
          </a:prstGeom>
          <a:solidFill>
            <a:srgbClr val="F2F4F5"/>
          </a:solidFill>
          <a:ln/>
        </p:spPr>
      </p:sp>
      <p:sp>
        <p:nvSpPr>
          <p:cNvPr id="6" name="Shape 3"/>
          <p:cNvSpPr/>
          <p:nvPr/>
        </p:nvSpPr>
        <p:spPr>
          <a:xfrm>
            <a:off x="987552" y="1984248"/>
            <a:ext cx="457200" cy="45720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87552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1783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愛知は高齢化が遅い。まだ余裕がある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20370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遅いからこそ、準備期間が短い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0080" y="3081528"/>
            <a:ext cx="10881360" cy="1225296"/>
          </a:xfrm>
          <a:prstGeom prst="roundRect">
            <a:avLst>
              <a:gd name="adj" fmla="val 4478"/>
            </a:avLst>
          </a:prstGeom>
          <a:solidFill>
            <a:srgbClr val="F2F4F5"/>
          </a:solidFill>
          <a:ln/>
        </p:spPr>
      </p:sp>
      <p:sp>
        <p:nvSpPr>
          <p:cNvPr id="11" name="Shape 8"/>
          <p:cNvSpPr/>
          <p:nvPr/>
        </p:nvSpPr>
        <p:spPr>
          <a:xfrm>
            <a:off x="987552" y="3465576"/>
            <a:ext cx="457200" cy="45720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87552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645920" y="32644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医師は管理しにくい。だから進まない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368503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医師は管理では動かない。事実でなら動く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40080" y="4562856"/>
            <a:ext cx="10881360" cy="1225296"/>
          </a:xfrm>
          <a:prstGeom prst="roundRect">
            <a:avLst>
              <a:gd name="adj" fmla="val 4478"/>
            </a:avLst>
          </a:prstGeom>
          <a:solidFill>
            <a:srgbClr val="E6EAED"/>
          </a:solidFill>
          <a:ln/>
        </p:spPr>
      </p:sp>
      <p:sp>
        <p:nvSpPr>
          <p:cNvPr id="16" name="Shape 13"/>
          <p:cNvSpPr/>
          <p:nvPr/>
        </p:nvSpPr>
        <p:spPr>
          <a:xfrm>
            <a:off x="987552" y="4946904"/>
            <a:ext cx="457200" cy="45720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87552" y="4946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645920" y="474573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医療は階層型でなければ危険だ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645920" y="51663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階層は残す。判断だけを現場に移す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6126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時間がない → だから急ぐ → 急ぐには医師が動く → 動くには権限が要る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50976" y="384048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まず事実です。愛知は恵まれています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45920"/>
            <a:ext cx="4206240" cy="3108960"/>
          </a:xfrm>
          <a:prstGeom prst="roundRect">
            <a:avLst>
              <a:gd name="adj" fmla="val 1765"/>
            </a:avLst>
          </a:prstGeom>
          <a:solidFill>
            <a:srgbClr val="F2F4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92024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25.4</a:t>
            </a:r>
            <a:endParaRPr lang="en-US" sz="6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%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657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愛知県の高齢化率(2020年)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069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全国で3番目に低い水準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577840" y="1956816"/>
            <a:ext cx="118872" cy="118872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897880" y="18288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全国平均は28.7%。愛知は3.3ポイント低い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577840" y="2670048"/>
            <a:ext cx="118872" cy="118872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897880" y="254203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人口減少も、全国平均より緩やかです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577840" y="3383280"/>
            <a:ext cx="118872" cy="118872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897880" y="325526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経済力があり、就業人口に支えられています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577840" y="4096512"/>
            <a:ext cx="118872" cy="118872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897880" y="396849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だから「まだ大丈夫」と感じます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6172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出典:総務省 国勢調査等をもとにした二次情報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50976" y="384048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高齢化率:愛知は全国より低い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55448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8229600" y="1737360"/>
            <a:ext cx="3291840" cy="2743200"/>
          </a:xfrm>
          <a:prstGeom prst="roundRect">
            <a:avLst>
              <a:gd name="adj" fmla="val 2000"/>
            </a:avLst>
          </a:prstGeom>
          <a:solidFill>
            <a:srgbClr val="F2F4F5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503920" y="2011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一番右を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見てください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8503920" y="30175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2050年の愛知は34.5%です。いまの全国平均を大きく超えます。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6172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出典:国立社会保障・人口問題研究所の推計等をもとにした二次情報(要原典確認)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反転 1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4592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恵まれていることは、</a:t>
            </a:r>
            <a:endParaRPr lang="en-US" sz="3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有利ではありません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65760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危機は、他県より遅く来ます。そして急に来ます。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痛みを知らないまま、締切だけが同じです。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863840" y="1737360"/>
            <a:ext cx="3657600" cy="3108960"/>
          </a:xfrm>
          <a:prstGeom prst="roundRect">
            <a:avLst>
              <a:gd name="adj" fmla="val 1765"/>
            </a:avLst>
          </a:prstGeom>
          <a:solidFill>
            <a:srgbClr val="2C3E4C"/>
          </a:solidFill>
          <a:ln w="19050">
            <a:solidFill>
              <a:srgbClr val="C127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0" y="21031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+9.1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3840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2020年→2050年の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高齢化率の上昇幅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50976" y="384048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締切は2040年ではありません。2028年度です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2560320" cy="3017520"/>
          </a:xfrm>
          <a:prstGeom prst="roundRect">
            <a:avLst>
              <a:gd name="adj" fmla="val 2143"/>
            </a:avLst>
          </a:prstGeom>
          <a:solidFill>
            <a:srgbClr val="F2F4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2103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</a:t>
            </a:r>
            <a:endParaRPr lang="en-US" sz="19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7月3日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691640" y="3063240"/>
            <a:ext cx="457200" cy="0"/>
          </a:xfrm>
          <a:prstGeom prst="line">
            <a:avLst/>
          </a:prstGeom>
          <a:noFill/>
          <a:ln w="25400">
            <a:solidFill>
              <a:srgbClr val="E6EAE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32461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地域医療構想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策定ガイドライン公表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29000" y="1828800"/>
            <a:ext cx="2560320" cy="3017520"/>
          </a:xfrm>
          <a:prstGeom prst="roundRect">
            <a:avLst>
              <a:gd name="adj" fmla="val 2143"/>
            </a:avLst>
          </a:prstGeom>
          <a:solidFill>
            <a:srgbClr val="F2F4F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611880" y="2103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</a:t>
            </a:r>
            <a:endParaRPr lang="en-US" sz="19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4月1日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4480560" y="3063240"/>
            <a:ext cx="457200" cy="0"/>
          </a:xfrm>
          <a:prstGeom prst="line">
            <a:avLst/>
          </a:prstGeom>
          <a:noFill/>
          <a:ln w="25400">
            <a:solidFill>
              <a:srgbClr val="E6EAE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11880" y="32461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改正医療法に基づく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新構想の取組が施行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17920" y="1828800"/>
            <a:ext cx="2560320" cy="3017520"/>
          </a:xfrm>
          <a:prstGeom prst="roundRect">
            <a:avLst>
              <a:gd name="adj" fmla="val 2143"/>
            </a:avLst>
          </a:prstGeom>
          <a:solidFill>
            <a:srgbClr val="F2F4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0" y="2103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2026-2028</a:t>
            </a:r>
            <a:endParaRPr lang="en-US" sz="19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年度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7269480" y="3063240"/>
            <a:ext cx="457200" cy="0"/>
          </a:xfrm>
          <a:prstGeom prst="line">
            <a:avLst/>
          </a:prstGeom>
          <a:noFill/>
          <a:ln w="25400">
            <a:solidFill>
              <a:srgbClr val="E6EAE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0" y="32461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国が定めた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集中的な検討期間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006840" y="1828800"/>
            <a:ext cx="2560320" cy="3017520"/>
          </a:xfrm>
          <a:prstGeom prst="roundRect">
            <a:avLst>
              <a:gd name="adj" fmla="val 2143"/>
            </a:avLst>
          </a:prstGeom>
          <a:solidFill>
            <a:srgbClr val="1F293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89720" y="2103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2028</a:t>
            </a:r>
            <a:endParaRPr lang="en-US" sz="19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年度まで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10058400" y="3063240"/>
            <a:ext cx="457200" cy="0"/>
          </a:xfrm>
          <a:prstGeom prst="line">
            <a:avLst/>
          </a:prstGeom>
          <a:noFill/>
          <a:ln w="25400">
            <a:solidFill>
              <a:srgbClr val="4A657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89720" y="32461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2040年に各医療機関が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担う機能が決まる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急性期拠点機能は、具体的な病院名まで決められます。病床数の話ではありません。席の話です。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6172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出典:厚生労働省「新たな地域医療構想に関するとりまとめ」ほか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50976" y="384048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病院単位で、担う機能を報告します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98448" y="1645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急性期拠点機能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2395728"/>
            <a:ext cx="457200" cy="457200"/>
          </a:xfrm>
          <a:prstGeom prst="ellipse">
            <a:avLst/>
          </a:prstGeom>
          <a:solidFill>
            <a:srgbClr val="4A657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298448" y="23957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高齢者救急・地域急性期機能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4A657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298448" y="314553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在宅医療等連携機能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4A657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008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298448" y="389534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専門等機能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0080" y="4645152"/>
            <a:ext cx="457200" cy="457200"/>
          </a:xfrm>
          <a:prstGeom prst="ellipse">
            <a:avLst/>
          </a:prstGeom>
          <a:solidFill>
            <a:srgbClr val="4A657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298448" y="46451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医育及び広域診療機能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583680" y="1645920"/>
            <a:ext cx="4937760" cy="3566160"/>
          </a:xfrm>
          <a:prstGeom prst="roundRect">
            <a:avLst>
              <a:gd name="adj" fmla="val 1538"/>
            </a:avLst>
          </a:prstGeom>
          <a:solidFill>
            <a:srgbClr val="F2F4F5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58000" y="19202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「回復期」が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「包括期」に変わります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0" y="301752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名称変更ではありません。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高齢者救急を受ける前提の機能です。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入院早期からの治療に加え、リハビリ・栄養・口腔管理を一体で行い、早期の在宅復帰まで担います。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名前だけ変えても務まりません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50976" y="384048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同じ愛知県。しかし約34倍の差があります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508760"/>
          <a:ext cx="74980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8412480" y="1737360"/>
            <a:ext cx="3108960" cy="1828800"/>
          </a:xfrm>
          <a:prstGeom prst="roundRect">
            <a:avLst>
              <a:gd name="adj" fmla="val 3000"/>
            </a:avLst>
          </a:prstGeom>
          <a:solidFill>
            <a:srgbClr val="F2F4F5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595360" y="1965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216万人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859536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名古屋医療圏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8412480" y="3749040"/>
            <a:ext cx="3108960" cy="1828800"/>
          </a:xfrm>
          <a:prstGeom prst="roundRect">
            <a:avLst>
              <a:gd name="adj" fmla="val 3000"/>
            </a:avLst>
          </a:prstGeom>
          <a:solidFill>
            <a:srgbClr val="1F2933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8595360" y="3977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6.4万人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859536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東三河北部医療圏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59536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取るべき席が違います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6172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出典:二次医療圏一覧をもとにした二次情報(集計時点は要確認)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 2 部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92024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機能を決めるのは経営者です。</a:t>
            </a:r>
            <a:endParaRPr lang="en-US" sz="32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実行するのは医師です。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9319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多くの病院が、ここで止まります。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50976" y="384048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この4つの言葉は、なぜ効かないのか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経営側の言葉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9224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医師の受け取り方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1965960"/>
            <a:ext cx="5394960" cy="786384"/>
          </a:xfrm>
          <a:prstGeom prst="roundRect">
            <a:avLst>
              <a:gd name="adj" fmla="val 6977"/>
            </a:avLst>
          </a:prstGeom>
          <a:solidFill>
            <a:srgbClr val="F2F4F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1965960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在院日数を減らしてください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965960"/>
            <a:ext cx="5257800" cy="786384"/>
          </a:xfrm>
          <a:prstGeom prst="roundRect">
            <a:avLst>
              <a:gd name="adj" fmla="val 6977"/>
            </a:avLst>
          </a:prstGeom>
          <a:solidFill>
            <a:srgbClr val="1F293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46520" y="1965960"/>
            <a:ext cx="4892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患者を追い出せということか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898648"/>
            <a:ext cx="5394960" cy="786384"/>
          </a:xfrm>
          <a:prstGeom prst="roundRect">
            <a:avLst>
              <a:gd name="adj" fmla="val 6977"/>
            </a:avLst>
          </a:prstGeom>
          <a:solidFill>
            <a:srgbClr val="F2F4F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2898648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この診療科は赤字です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63640" y="2898648"/>
            <a:ext cx="5257800" cy="786384"/>
          </a:xfrm>
          <a:prstGeom prst="roundRect">
            <a:avLst>
              <a:gd name="adj" fmla="val 6977"/>
            </a:avLst>
          </a:prstGeom>
          <a:solidFill>
            <a:srgbClr val="1F293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46520" y="2898648"/>
            <a:ext cx="4892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自分の医療を否定された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3831336"/>
            <a:ext cx="5394960" cy="786384"/>
          </a:xfrm>
          <a:prstGeom prst="roundRect">
            <a:avLst>
              <a:gd name="adj" fmla="val 6977"/>
            </a:avLst>
          </a:prstGeom>
          <a:solidFill>
            <a:srgbClr val="F2F4F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22960" y="3831336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他の先生はできています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63640" y="3831336"/>
            <a:ext cx="5257800" cy="786384"/>
          </a:xfrm>
          <a:prstGeom prst="roundRect">
            <a:avLst>
              <a:gd name="adj" fmla="val 6977"/>
            </a:avLst>
          </a:prstGeom>
          <a:solidFill>
            <a:srgbClr val="1F293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46520" y="3831336"/>
            <a:ext cx="4892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症例の重さが違う。比較が乱暴だ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0080" y="4764024"/>
            <a:ext cx="5394960" cy="786384"/>
          </a:xfrm>
          <a:prstGeom prst="roundRect">
            <a:avLst>
              <a:gd name="adj" fmla="val 6977"/>
            </a:avLst>
          </a:prstGeom>
          <a:solidFill>
            <a:srgbClr val="F2F4F5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22960" y="4764024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経営が厳しいので協力を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263640" y="4764024"/>
            <a:ext cx="5257800" cy="786384"/>
          </a:xfrm>
          <a:prstGeom prst="roundRect">
            <a:avLst>
              <a:gd name="adj" fmla="val 6977"/>
            </a:avLst>
          </a:prstGeom>
          <a:solidFill>
            <a:srgbClr val="1F293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46520" y="4764024"/>
            <a:ext cx="4892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経営の失敗を現場に押しつけている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共通点があります。主観と結論が、先に来ています。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50976" y="384048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主観を排除する、4つの技術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475488" cy="475488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53312" y="166420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外部ベンチマークを使う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353312" y="206654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「うちの中では長い」は主観です。同じ疾患・同じ重症度の全国データと比べます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880360"/>
            <a:ext cx="475488" cy="475488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2880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53312" y="276148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粒度を疾患別・術式別まで下げる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353312" y="316382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診療科単位の比較は、症例構成の違いで必ず反論されます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3977640"/>
            <a:ext cx="475488" cy="475488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3977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53312" y="38587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数字に解釈を付けない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1353312" y="426110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「効率が悪い」と書きません。数字と比較対象だけを出します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5074920"/>
            <a:ext cx="475488" cy="475488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5074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353312" y="495604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外れ値は指摘せず、質問する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1353312" y="53583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「短縮してください」ではなく「何が理由でしょうか」と聞きます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医師は科学の訓練を受けた専門職です。事実には向き合います。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50976" y="384048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同じ数字。伝え方だけが違います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45920"/>
            <a:ext cx="5303520" cy="3017520"/>
          </a:xfrm>
          <a:prstGeom prst="roundRect">
            <a:avLst>
              <a:gd name="adj" fmla="val 1818"/>
            </a:avLst>
          </a:prstGeom>
          <a:solidFill>
            <a:srgbClr val="F2F4F5"/>
          </a:solidFill>
          <a:ln w="12700">
            <a:solidFill>
              <a:srgbClr val="E6EA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動かない伝え方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3774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この術式の在院日数が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全国平均より4日長いです。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短縮してください。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023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防御が始まります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645920"/>
            <a:ext cx="5303520" cy="3017520"/>
          </a:xfrm>
          <a:prstGeom prst="roundRect">
            <a:avLst>
              <a:gd name="adj" fmla="val 1818"/>
            </a:avLst>
          </a:prstGeom>
          <a:solidFill>
            <a:srgbClr val="1F293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9224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動く伝え方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23774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この術式が全国平均より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4日長く出ています。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何が理由でしょうか。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4023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医師が原因を説明します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49834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E6EAE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49834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「重症例を診ているからだ」と答えたら、それは正当な理由です。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そのときは、データを直します。データが間違っていることは、実際とても多いのです。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50976" y="384048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見せる順序を、間違えないでください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7680960" cy="1051560"/>
          </a:xfrm>
          <a:prstGeom prst="roundRect">
            <a:avLst>
              <a:gd name="adj" fmla="val 5217"/>
            </a:avLst>
          </a:prstGeom>
          <a:solidFill>
            <a:srgbClr val="F2F4F5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029968"/>
            <a:ext cx="457200" cy="45720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88366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医療の質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286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合併症率・再入院率・標準治療の実施率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971800"/>
            <a:ext cx="7680960" cy="1051560"/>
          </a:xfrm>
          <a:prstGeom prst="roundRect">
            <a:avLst>
              <a:gd name="adj" fmla="val 5217"/>
            </a:avLst>
          </a:prstGeom>
          <a:solidFill>
            <a:srgbClr val="F2F4F5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" y="3264408"/>
            <a:ext cx="457200" cy="457200"/>
          </a:xfrm>
          <a:prstGeom prst="ellipse">
            <a:avLst/>
          </a:prstGeom>
          <a:solidFill>
            <a:srgbClr val="4A657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600200" y="31181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診療の生産性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600200" y="3520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在院日数・病床稼働率・紹介率・逆紹介率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4206240"/>
            <a:ext cx="7680960" cy="1051560"/>
          </a:xfrm>
          <a:prstGeom prst="roundRect">
            <a:avLst>
              <a:gd name="adj" fmla="val 5217"/>
            </a:avLst>
          </a:prstGeom>
          <a:solidFill>
            <a:srgbClr val="F2F4F5"/>
          </a:solidFill>
          <a:ln/>
        </p:spPr>
      </p:sp>
      <p:sp>
        <p:nvSpPr>
          <p:cNvPr id="16" name="Shape 13"/>
          <p:cNvSpPr/>
          <p:nvPr/>
        </p:nvSpPr>
        <p:spPr>
          <a:xfrm>
            <a:off x="914400" y="4498848"/>
            <a:ext cx="457200" cy="457200"/>
          </a:xfrm>
          <a:prstGeom prst="ellipse">
            <a:avLst/>
          </a:prstGeom>
          <a:solidFill>
            <a:srgbClr val="1F293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1440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600200" y="435254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収支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4754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診療科別・疾患別・術式別の収支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686800" y="1737360"/>
            <a:ext cx="2834640" cy="3429000"/>
          </a:xfrm>
          <a:prstGeom prst="roundRect">
            <a:avLst>
              <a:gd name="adj" fmla="val 1935"/>
            </a:avLst>
          </a:prstGeom>
          <a:solidFill>
            <a:srgbClr val="1F293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91540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収支だけを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見せると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915400" y="2926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「金の話か」</a:t>
            </a:r>
            <a:endParaRPr lang="en-US" sz="2100" dirty="0"/>
          </a:p>
        </p:txBody>
      </p:sp>
      <p:sp>
        <p:nvSpPr>
          <p:cNvPr id="23" name="Text 20"/>
          <p:cNvSpPr txBox="1"/>
          <p:nvPr/>
        </p:nvSpPr>
        <p:spPr>
          <a:xfrm>
            <a:off x="8915400" y="35661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で終わります。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必ず、質から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見せてください。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 3 部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46304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この循環を、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管理型では止められません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3291840"/>
            <a:ext cx="3108960" cy="731520"/>
          </a:xfrm>
          <a:prstGeom prst="roundRect">
            <a:avLst>
              <a:gd name="adj" fmla="val 7500"/>
            </a:avLst>
          </a:prstGeom>
          <a:solidFill>
            <a:srgbClr val="2C3E4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3291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人手不足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0050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↓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4251960"/>
            <a:ext cx="3108960" cy="731520"/>
          </a:xfrm>
          <a:prstGeom prst="roundRect">
            <a:avLst>
              <a:gd name="adj" fmla="val 7500"/>
            </a:avLst>
          </a:prstGeom>
          <a:solidFill>
            <a:srgbClr val="2C3E4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4251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1人あたりの負担増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9651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5212080"/>
            <a:ext cx="3108960" cy="731520"/>
          </a:xfrm>
          <a:prstGeom prst="roundRect">
            <a:avLst>
              <a:gd name="adj" fmla="val 7500"/>
            </a:avLst>
          </a:prstGeom>
          <a:solidFill>
            <a:srgbClr val="2C3E4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" y="5212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離職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931920" y="4206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↑ 戻る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18288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2.37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倍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2971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看護師等の有効求人倍率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183880" y="18288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14.6</a:t>
            </a:r>
            <a:endParaRPr lang="en-US" sz="3400" dirty="0"/>
          </a:p>
        </p:txBody>
      </p:sp>
      <p:sp>
        <p:nvSpPr>
          <p:cNvPr id="18" name="Text 15"/>
          <p:cNvSpPr txBox="1"/>
          <p:nvPr/>
        </p:nvSpPr>
        <p:spPr>
          <a:xfrm>
            <a:off x="818388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%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092440" y="2971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医療・福祉の離職率(令和5年)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966960" y="18288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3400" dirty="0"/>
          </a:p>
        </p:txBody>
      </p:sp>
      <p:sp>
        <p:nvSpPr>
          <p:cNvPr id="21" name="Text 18"/>
          <p:cNvSpPr txBox="1"/>
          <p:nvPr/>
        </p:nvSpPr>
        <p:spPr>
          <a:xfrm>
            <a:off x="996696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割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875520" y="2971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辞めたい理由は「きつさ」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0" y="42062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指示を出す人も、指示を受ける人も、もう限界だからです。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50976" y="384048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先に申し上げます。全面導入はできません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F2F4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0120" y="1901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医療法 第15条第1項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3317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管理者は、勤務する医師・歯科医師・薬剤師その他の従業者を監督し、病院の管理運営につき必要な注意をしなければならない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33756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F2F4F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60120" y="35021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医療法 第6条の12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39319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管理者は、医療安全確保の指針の策定、従業者への研修その他、医療の安全を確保するための措置を講じなければならない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498348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F293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60120" y="498348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医療安全と法令の責任は、院長が持ち続けます。ここは動かせません。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50976" y="384048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階層は残します。判断だけを移します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45920"/>
            <a:ext cx="10881360" cy="1965960"/>
          </a:xfrm>
          <a:prstGeom prst="roundRect">
            <a:avLst>
              <a:gd name="adj" fmla="val 2791"/>
            </a:avLst>
          </a:prstGeom>
          <a:solidFill>
            <a:srgbClr val="E6EAE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012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階層型を維持する層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2402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医療安全 ・ 感染対策 ・ 法令遵守 ・ 最終的な診療責任 ・ 有事の指揮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788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院長の責任です。移しません。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840480"/>
            <a:ext cx="10881360" cy="1965960"/>
          </a:xfrm>
          <a:prstGeom prst="roundRect">
            <a:avLst>
              <a:gd name="adj" fmla="val 2791"/>
            </a:avLst>
          </a:prstGeom>
          <a:solidFill>
            <a:srgbClr val="1F293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60120" y="4023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自主経営に移す層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4434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シフト編成 ・ 業務分担 ・ 業務改善 ・ チーム内の教育 ・ 日常のケア判断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4983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チームが決めます。上長は承認しません。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階層をなくす話ではありません。判断する場所を、現場に近づける話です。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50976" y="384048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事例:ビュートゾルフ(オランダ)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3931920" cy="2194560"/>
          </a:xfrm>
          <a:prstGeom prst="roundRect">
            <a:avLst>
              <a:gd name="adj" fmla="val 2500"/>
            </a:avLst>
          </a:prstGeom>
          <a:solidFill>
            <a:srgbClr val="F2F4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9202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6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017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名以下のチーム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401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看護師は原則12名以下に分かれ、地域を受け持ちます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0" y="1929384"/>
            <a:ext cx="118872" cy="118872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349240" y="17830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シフト管理を、自分たちで行います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0" y="2496312"/>
            <a:ext cx="118872" cy="118872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349240" y="235000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業績管理も、自分たちで行います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0" y="3063240"/>
            <a:ext cx="118872" cy="118872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2916936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地域との連携も、自分たちで行います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029200" y="3630168"/>
            <a:ext cx="118872" cy="118872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349240" y="3483864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研修の企画も、自分たちで行います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40080" y="4160520"/>
            <a:ext cx="10881360" cy="1463040"/>
          </a:xfrm>
          <a:prstGeom prst="roundRect">
            <a:avLst>
              <a:gd name="adj" fmla="val 3750"/>
            </a:avLst>
          </a:prstGeom>
          <a:solidFill>
            <a:srgbClr val="1F293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05840" y="429768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本部やマネージャーが担う役割を、現場が引き受けています。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48006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そして、提供したケアの質も治療時間も、すべてデータで見えます。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6172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出典:SELECK、We介護の記事(二次情報。調査主体と時点は未確認)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50976" y="384048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報告されている成果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64592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7955280" y="173736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F2F4F5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183880" y="1920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60%低い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818388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病気を理由にした欠勤率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818388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33%低い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7955280" y="365760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1F2933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183880" y="3931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患者満足度</a:t>
            </a:r>
            <a:endParaRPr lang="en-US" sz="21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国内 1位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8183880" y="4846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2012年。コストを削減しつつ、質を維持しています。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6172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グラフは従来型を100とした指数です。出典:SELECK、We介護(二次情報)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371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今日、1つだけ持ち帰るなら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01168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データが先、</a:t>
            </a:r>
            <a:endParaRPr lang="en-US" sz="46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権限が後です。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0624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「自由にやってよい」ではありません。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事実が見えるから、自分で決められるのです。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394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逆にすると、現場は判断できずに疲弊します。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50976" y="384048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明日からの、3つの一歩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3474720" cy="3931920"/>
          </a:xfrm>
          <a:prstGeom prst="roundRect">
            <a:avLst>
              <a:gd name="adj" fmla="val 1579"/>
            </a:avLst>
          </a:prstGeom>
          <a:solidFill>
            <a:srgbClr val="F2F4F5"/>
          </a:solidFill>
          <a:ln/>
        </p:spPr>
      </p:sp>
      <p:sp>
        <p:nvSpPr>
          <p:cNvPr id="6" name="Shape 3"/>
          <p:cNvSpPr/>
          <p:nvPr/>
        </p:nvSpPr>
        <p:spPr>
          <a:xfrm>
            <a:off x="960120" y="2011680"/>
            <a:ext cx="548640" cy="54864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7432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自院の席を確認する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65760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自院の二次医療圏は2040年に増えるのか減るのか。調整会議に出て、他院の動きを見てください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1737360"/>
            <a:ext cx="3474720" cy="3931920"/>
          </a:xfrm>
          <a:prstGeom prst="roundRect">
            <a:avLst>
              <a:gd name="adj" fmla="val 1579"/>
            </a:avLst>
          </a:prstGeom>
          <a:solidFill>
            <a:srgbClr val="F2F4F5"/>
          </a:solidFill>
          <a:ln/>
        </p:spPr>
      </p:sp>
      <p:sp>
        <p:nvSpPr>
          <p:cNvPr id="11" name="Shape 8"/>
          <p:cNvSpPr/>
          <p:nvPr/>
        </p:nvSpPr>
        <p:spPr>
          <a:xfrm>
            <a:off x="4663440" y="2011680"/>
            <a:ext cx="548640" cy="54864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634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27432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データを1つだけ公開する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365760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1つの診療科、1つの疾患で外部ベンチマークを出します。最初の会議では「実感と合っていますか」だけを聞きます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0" y="1737360"/>
            <a:ext cx="3474720" cy="3931920"/>
          </a:xfrm>
          <a:prstGeom prst="roundRect">
            <a:avLst>
              <a:gd name="adj" fmla="val 1579"/>
            </a:avLst>
          </a:prstGeom>
          <a:solidFill>
            <a:srgbClr val="E6EAED"/>
          </a:solidFill>
          <a:ln/>
        </p:spPr>
      </p:sp>
      <p:sp>
        <p:nvSpPr>
          <p:cNvPr id="16" name="Shape 13"/>
          <p:cNvSpPr/>
          <p:nvPr/>
        </p:nvSpPr>
        <p:spPr>
          <a:xfrm>
            <a:off x="8366760" y="2011680"/>
            <a:ext cx="548640" cy="54864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3667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366760" y="27432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1病棟でシフトを任せる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366760" y="365760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全病棟で始めません。離職率・欠勤率・残業時間を先に測り、効果は数字で確認します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全部やろうとすると、始まりません。1つずつで十分です。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1371600"/>
            <a:ext cx="201168" cy="201168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1920240"/>
            <a:ext cx="10424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2028年度に、席は決まります。</a:t>
            </a:r>
            <a:endParaRPr lang="en-US" sz="3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決めるのは制度ではありません。</a:t>
            </a:r>
            <a:endParaRPr lang="en-US" sz="3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現場が動いた病院から決まります。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4663440"/>
            <a:ext cx="2926080" cy="0"/>
          </a:xfrm>
          <a:prstGeom prst="line">
            <a:avLst/>
          </a:prstGeom>
          <a:noFill/>
          <a:ln w="25400">
            <a:solidFill>
              <a:srgbClr val="C1272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48920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先生方を管理する話ではありません。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先生方が判断できる材料を渡す話です。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50976" y="384048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819656"/>
            <a:ext cx="91440" cy="9144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96112" y="16916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厚生労働省「新たな地域医療構想に関するとりまとめ」(令和6年12月18日、令和8年3月19日)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2386584"/>
            <a:ext cx="91440" cy="9144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96112" y="22585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厚生労働省「地域医療構想策定ガイドライン」(2026年7月3日公表)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953512"/>
            <a:ext cx="91440" cy="9144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96112" y="282549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厚生労働省「2040年に向けた人口動態・医療需要等」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3520440"/>
            <a:ext cx="91440" cy="9144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96112" y="339242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厚生労働省「看護職員の需給推計について」(令和8年4月10日 第1回検討会)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4087368"/>
            <a:ext cx="91440" cy="9144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96112" y="395935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厚生労働省「医師・歯科医師・薬剤師統計」をもとにした二次情報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4654296"/>
            <a:ext cx="91440" cy="9144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96112" y="45262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日本病院会・全日本病院協会「2025年度 病院経営定期調査」(2025年11月26日)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17920" y="1819656"/>
            <a:ext cx="91440" cy="9144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73952" y="16916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JILPT「ビジネス・レーバー・トレンド」2026年3月号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17920" y="2386584"/>
            <a:ext cx="91440" cy="9144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73952" y="22585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GemMed「2026年度診療報酬改定答申」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17920" y="2953512"/>
            <a:ext cx="91440" cy="9144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73952" y="282549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日本経済新聞「愛知・岐阜・三重県の人口、2050年に16%減」(2023年12月)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217920" y="3520440"/>
            <a:ext cx="91440" cy="9144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73952" y="339242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日本経営「愛知県 二次医療圏一覧」/ 日本医師会「地域医療情報システム(JMAP)」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217920" y="4087368"/>
            <a:ext cx="91440" cy="9144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473952" y="395935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SELECK / We介護(ビュートゾルフ関連記事)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217920" y="4654296"/>
            <a:ext cx="91440" cy="9144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473952" y="45262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東京都保健医療局「病院管理の手引」/ 日本看護協会「医療機関等で求められる安全管理体制」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40080" y="534924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2F4F5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14400" y="53492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本資料の数値には二次情報が含まれます。引用の際は原典をご確認ください。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1645920"/>
            <a:ext cx="256032" cy="256032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21945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ご清聴、ありがとうございました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108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ご質問をお受けします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" y="4114800"/>
            <a:ext cx="2926080" cy="0"/>
          </a:xfrm>
          <a:prstGeom prst="line">
            <a:avLst/>
          </a:prstGeom>
          <a:noFill/>
          <a:ln w="12700">
            <a:solidFill>
              <a:srgbClr val="4A657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43434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ともき医療ワークス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800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病院経営の研究とアドバイス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212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(連絡先をここに記入してください)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2028年の締切と、病院経営の3つの反転</dc:title>
  <dc:subject>PptxGenJS Presentation</dc:subject>
  <dc:creator>ともき医療ワークス</dc:creator>
  <cp:lastModifiedBy>ともき医療ワークス</cp:lastModifiedBy>
  <cp:revision>1</cp:revision>
  <dcterms:created xsi:type="dcterms:W3CDTF">2026-09-01T14:19:25Z</dcterms:created>
  <dcterms:modified xsi:type="dcterms:W3CDTF">2026-09-01T14:19:25Z</dcterms:modified>
</cp:coreProperties>
</file>